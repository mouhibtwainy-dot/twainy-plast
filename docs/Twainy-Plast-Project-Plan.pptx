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fdb6fd-0360-7211-fc74-dea6c086ed80}">
          <p14:sldIdLst>
            <p14:sldId id="256"/>
            <p14:sldId id="257"/>
          </p14:sldIdLst>
        </p14:section>
        <p14:section name="Problem &amp; Data" id="{12f2455c-60e3-67a8-33c2-0dc9e2f88a96}">
          <p14:sldIdLst>
            <p14:sldId id="258"/>
            <p14:sldId id="259"/>
            <p14:sldId id="260"/>
            <p14:sldId id="261"/>
            <p14:sldId id="262"/>
          </p14:sldIdLst>
        </p14:section>
        <p14:section name="Research" id="{e4f7ed1a-8a83-ddb8-69c0-f59ab29809fb}">
          <p14:sldIdLst>
            <p14:sldId id="263"/>
            <p14:sldId id="264"/>
            <p14:sldId id="265"/>
            <p14:sldId id="266"/>
          </p14:sldIdLst>
        </p14:section>
        <p14:section name="Ideation" id="{bfbb7206-12f9-78d4-ae5d-c3ded0214d0b}">
          <p14:sldIdLst>
            <p14:sldId id="267"/>
            <p14:sldId id="268"/>
            <p14:sldId id="269"/>
            <p14:sldId id="270"/>
          </p14:sldIdLst>
        </p14:section>
        <p14:section name="Strategy" id="{5e78d5f4-627a-8a52-d89a-3e55271c2bb0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oadmap" id="{22d7db7a-c70f-8fcc-c324-68e28757f766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Purchase funnel, sessions (Oct 7–21)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7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Sessions</c:v>
                  </c:pt>
                  <c:pt idx="1">
                    <c:v>Added to cart</c:v>
                  </c:pt>
                  <c:pt idx="2">
                    <c:v>Reached checkout</c:v>
                  </c:pt>
                  <c:pt idx="3">
                    <c:v>Completed order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Daily sessions since launch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7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Oct 14</c:v>
                  </c:pt>
                  <c:pt idx="1">
                    <c:v>Oct 15</c:v>
                  </c:pt>
                  <c:pt idx="2">
                    <c:v>Oct 16</c:v>
                  </c:pt>
                  <c:pt idx="3">
                    <c:v>Oct 17</c:v>
                  </c:pt>
                  <c:pt idx="4">
                    <c:v>Oct 18</c:v>
                  </c:pt>
                  <c:pt idx="5">
                    <c:v>Oct 19</c:v>
                  </c:pt>
                  <c:pt idx="6">
                    <c:v>Oct 20</c:v>
                  </c:pt>
                  <c:pt idx="7">
                    <c:v>Oct 21*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15</c:v>
                </c:pt>
                <c:pt idx="2">
                  <c:v>62</c:v>
                </c:pt>
                <c:pt idx="3">
                  <c:v>58</c:v>
                </c:pt>
                <c:pt idx="4">
                  <c:v>28</c:v>
                </c:pt>
                <c:pt idx="5">
                  <c:v>38</c:v>
                </c:pt>
                <c:pt idx="6">
                  <c:v>25</c:v>
                </c:pt>
                <c:pt idx="7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Sessions by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7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</c:v>
                  </c:pt>
                  <c:pt idx="1">
                    <c:v>Social</c:v>
                  </c:pt>
                  <c:pt idx="2">
                    <c:v>Search</c:v>
                  </c:pt>
                  <c:pt idx="3">
                    <c:v>Email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247</c:v>
                </c:pt>
                <c:pt idx="1">
                  <c:v>16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Sessions by country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7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Lebanon</c:v>
                  </c:pt>
                  <c:pt idx="1">
                    <c:v>United States</c:v>
                  </c:pt>
                  <c:pt idx="2">
                    <c:v>Rest of world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107</c:v>
                </c:pt>
                <c:pt idx="2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Sessions by device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2E7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Desktop</c:v>
                  </c:pt>
                  <c:pt idx="1">
                    <c:v>Mobile</c:v>
                  </c:pt>
                  <c:pt idx="2">
                    <c:v>Tablet / 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125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4D2B"/>
                </a:solidFill>
                <a:latin typeface="+mn-lt"/>
              </a:rPr>
              <a:t>Ad budget split ($200)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9CDB1"/>
              </a:solidFill>
              <a:effectLst/>
            </c:spPr>
          </c:dPt>
          <c:dPt>
            <c:idx val="1"/>
            <c:bubble3D val="0"/>
            <c:spPr>
              <a:solidFill>
                <a:srgbClr val="2E7D3A"/>
              </a:solidFill>
              <a:effectLst/>
            </c:spPr>
          </c:dPt>
          <c:dPt>
            <c:idx val="2"/>
            <c:bubble3D val="0"/>
            <c:spPr>
              <a:solidFill>
                <a:srgbClr val="1B4D2B"/>
              </a:solidFill>
              <a:effectLst/>
            </c:spPr>
          </c:dPt>
          <c:dPt>
            <c:idx val="3"/>
            <c:bubble3D val="0"/>
            <c:spPr>
              <a:solidFill>
                <a:srgbClr val="D63A14"/>
              </a:solidFill>
              <a:effectLst/>
            </c:spPr>
          </c:dPt>
          <c:dLbls>
            <c:dLbl>
              <c:idx val="0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Week 1 awareness</c:v>
                </c:pt>
                <c:pt idx="1">
                  <c:v>Week 2 A/B test</c:v>
                </c:pt>
                <c:pt idx="2">
                  <c:v>Weeks 3–4 scale</c:v>
                </c:pt>
                <c:pt idx="3">
                  <c:v>Weeks 3–4 retarget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70</c:v>
                </c:pt>
                <c:pt idx="2">
                  <c:v>70</c:v>
                </c:pt>
                <c:pt idx="3">
                  <c:v>30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client, a family-run Lebanese sanitary-ware and plumbing retailer that has just launched its Shopify store, and the project question: how do we turn visitors into customers?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week is an early baseline. We will investigate the reasons before claiming any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DB1"/>
                </a:solidFill>
              </a:rPr>
              <a:t>Twainy Plast · MKT 843 Consulting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D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Twainy Plast · MKT 843 Consulting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D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From Visitors to Customers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 Social Media &amp; Digital Growth Strategy for Twainy Plast Sanitary</a:t>
            </a:r>
            <a:endParaRPr lang="en-US" sz="2000" dirty="0"/>
          </a:p>
        </p:txBody>
      </p:sp>
      <p:sp>
        <p:nvSpPr>
          <p:cNvPr id="4" name="Logo card"/>
          <p:cNvSpPr/>
          <p:nvPr/>
        </p:nvSpPr>
        <p:spPr>
          <a:xfrm>
            <a:off x="548640" y="54864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Twainy Plast logo" descr="Twainy Plas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608584"/>
            <a:ext cx="1225296" cy="748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63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اختار بثقة · Choose with Confidence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MKT 843 Strategic Social Media Management · Dr. Kiray Khoury · LAU AKSOB MBA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Project plan · October 2026 · Team: [names]</a:t>
            </a:r>
            <a:endParaRPr lang="en-US" sz="1400" dirty="0"/>
          </a:p>
        </p:txBody>
      </p:sp>
      <p:pic>
        <p:nvPicPr>
          <p:cNvPr id="8" name="Website screenshot" descr="twainyplast.com home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43125"/>
            <a:ext cx="4114800" cy="25717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48246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twainyplast.com, launched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plan at a glance</a:t>
            </a:r>
            <a:endParaRPr lang="en-US" sz="3200" dirty="0"/>
          </a:p>
        </p:txBody>
      </p:sp>
      <p:sp>
        <p:nvSpPr>
          <p:cNvPr id="3" name="Agenda 1"/>
          <p:cNvSpPr/>
          <p:nvPr/>
        </p:nvSpPr>
        <p:spPr>
          <a:xfrm>
            <a:off x="54864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004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Visitors arrive, nobody buys</a:t>
            </a:r>
            <a:endParaRPr lang="en-US" sz="1400" dirty="0"/>
          </a:p>
        </p:txBody>
      </p:sp>
      <p:sp>
        <p:nvSpPr>
          <p:cNvPr id="9" name="Agenda 2"/>
          <p:cNvSpPr/>
          <p:nvPr/>
        </p:nvSpPr>
        <p:spPr>
          <a:xfrm>
            <a:off x="429768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success means in 4 weeks</a:t>
            </a:r>
            <a:endParaRPr lang="en-US" sz="1400" dirty="0"/>
          </a:p>
        </p:txBody>
      </p:sp>
      <p:sp>
        <p:nvSpPr>
          <p:cNvPr id="15" name="Agenda 3"/>
          <p:cNvSpPr/>
          <p:nvPr/>
        </p:nvSpPr>
        <p:spPr>
          <a:xfrm>
            <a:off x="8046720" y="146304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973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984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Statistics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Real Shopify launch data</a:t>
            </a:r>
            <a:endParaRPr lang="en-US" sz="1400" dirty="0"/>
          </a:p>
        </p:txBody>
      </p:sp>
      <p:sp>
        <p:nvSpPr>
          <p:cNvPr id="21" name="Agenda 4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20040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Competitors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Three rivals and the audit framework</a:t>
            </a:r>
            <a:endParaRPr lang="en-US" sz="1400" dirty="0"/>
          </a:p>
        </p:txBody>
      </p:sp>
      <p:sp>
        <p:nvSpPr>
          <p:cNvPr id="27" name="Agenda 5"/>
          <p:cNvSpPr/>
          <p:nvPr/>
        </p:nvSpPr>
        <p:spPr>
          <a:xfrm>
            <a:off x="429768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27482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4944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Brainstorm &amp; mind map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Ideas, priorities, strategy map</a:t>
            </a:r>
            <a:endParaRPr lang="en-US" sz="1400" dirty="0"/>
          </a:p>
        </p:txBody>
      </p:sp>
      <p:sp>
        <p:nvSpPr>
          <p:cNvPr id="33" name="Agenda 6"/>
          <p:cNvSpPr/>
          <p:nvPr/>
        </p:nvSpPr>
        <p:spPr>
          <a:xfrm>
            <a:off x="804672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27482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69848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832104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Strategy &amp; roadmap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Campaign, creatives, KPIs, timeline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problem: visitors arrive, but nobody buys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Twainy Plast launched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twainyplast.com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in October 2026 with 175 products: mixers, LED mirrors, WCs, basins, showers and pumps.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People are visiting, but in the first week no visitor bought anything. Social media is not yet run as a sales channel, and shoppers have little reason to trust a new online store.</a:t>
            </a:r>
            <a:endParaRPr lang="en-US" sz="1600" dirty="0"/>
          </a:p>
        </p:txBody>
      </p:sp>
      <p:sp>
        <p:nvSpPr>
          <p:cNvPr id="5" name="Research question"/>
          <p:cNvSpPr/>
          <p:nvPr/>
        </p:nvSpPr>
        <p:spPr>
          <a:xfrm>
            <a:off x="548640" y="3931920"/>
            <a:ext cx="5486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can Twainy Plast use targeted social content, customer trust and an easier buying journey to turn website visitors into paying customers?</a:t>
            </a:r>
            <a:endParaRPr lang="en-US" sz="1600" dirty="0"/>
          </a:p>
        </p:txBody>
      </p:sp>
      <p:sp>
        <p:nvSpPr>
          <p:cNvPr id="8" name="Stat sessions in launch week"/>
          <p:cNvSpPr/>
          <p:nvPr/>
        </p:nvSpPr>
        <p:spPr>
          <a:xfrm>
            <a:off x="6583680" y="137160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252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sessions in launch week</a:t>
            </a:r>
            <a:endParaRPr lang="en-US" sz="1400" dirty="0"/>
          </a:p>
        </p:txBody>
      </p:sp>
      <p:sp>
        <p:nvSpPr>
          <p:cNvPr id="11" name="Stat of sessions add to cart"/>
          <p:cNvSpPr/>
          <p:nvPr/>
        </p:nvSpPr>
        <p:spPr>
          <a:xfrm>
            <a:off x="9189720" y="137160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1.1%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sessions add to cart</a:t>
            </a:r>
            <a:endParaRPr lang="en-US" sz="1400" dirty="0"/>
          </a:p>
        </p:txBody>
      </p:sp>
      <p:sp>
        <p:nvSpPr>
          <p:cNvPr id="14" name="Stat completed orders"/>
          <p:cNvSpPr/>
          <p:nvPr/>
        </p:nvSpPr>
        <p:spPr>
          <a:xfrm>
            <a:off x="6583680" y="356616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0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709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completed orders</a:t>
            </a:r>
            <a:endParaRPr lang="en-US" sz="1400" dirty="0"/>
          </a:p>
        </p:txBody>
      </p:sp>
      <p:sp>
        <p:nvSpPr>
          <p:cNvPr id="17" name="Stat of traffic is direct; 6% from social"/>
          <p:cNvSpPr/>
          <p:nvPr/>
        </p:nvSpPr>
        <p:spPr>
          <a:xfrm>
            <a:off x="9189720" y="356616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0" y="3840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91%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4709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of traffic is direct; 6% from social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Shopify Analytics, Oct 7–21,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Main objective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Main objective: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build a measurable path from social media attention to paying customers, from 0 orders to a tested, repeatable sales engine in 4 weeks.</a:t>
            </a:r>
            <a:endParaRPr lang="en-US" sz="1800" dirty="0"/>
          </a:p>
        </p:txBody>
      </p:sp>
      <p:sp>
        <p:nvSpPr>
          <p:cNvPr id="5" name="Objective Convert"/>
          <p:cNvSpPr/>
          <p:nvPr/>
        </p:nvSpPr>
        <p:spPr>
          <a:xfrm>
            <a:off x="548640" y="24688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857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Convert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online orders + 8 WhatsApp-assisted orders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Baseline: 0 orders</a:t>
            </a:r>
            <a:endParaRPr lang="en-US" sz="1200" dirty="0"/>
          </a:p>
        </p:txBody>
      </p:sp>
      <p:sp>
        <p:nvSpPr>
          <p:cNvPr id="11" name="Objective Attract"/>
          <p:cNvSpPr/>
          <p:nvPr/>
        </p:nvSpPr>
        <p:spPr>
          <a:xfrm>
            <a:off x="3383280" y="24688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8575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Attract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1,000 Lebanese sessions from campaign links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Baseline: 120 Lebanon sessions in 14 days</a:t>
            </a:r>
            <a:endParaRPr lang="en-US" sz="1200" dirty="0"/>
          </a:p>
        </p:txBody>
      </p:sp>
      <p:sp>
        <p:nvSpPr>
          <p:cNvPr id="17" name="Objective Engage"/>
          <p:cNvSpPr/>
          <p:nvPr/>
        </p:nvSpPr>
        <p:spPr>
          <a:xfrm>
            <a:off x="6217920" y="24688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28575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9224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Engage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25,000 reach · engagement rate ≥ 3% by reach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Baseline: social sends 6% of traffic</a:t>
            </a:r>
            <a:endParaRPr lang="en-US" sz="1200" dirty="0"/>
          </a:p>
        </p:txBody>
      </p:sp>
      <p:sp>
        <p:nvSpPr>
          <p:cNvPr id="23" name="Objective Trust &amp; tracking"/>
          <p:cNvSpPr/>
          <p:nvPr/>
        </p:nvSpPr>
        <p:spPr>
          <a:xfrm>
            <a:off x="9052560" y="246888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26880" y="2697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8575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2688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Trust &amp; tracking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GA4 + Pixel live · 10 genuine Google reviews · reply in &lt; 1 h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Baseline: no tracking, 0 reviews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Targets are 4-week test targets (Oct 29 – Nov 25), not forecasts. They will be revised after week 1 using real costs and margins.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Statistics: the drop-off happens before the cart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28016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 1"/>
          <p:cNvSpPr/>
          <p:nvPr/>
        </p:nvSpPr>
        <p:spPr>
          <a:xfrm>
            <a:off x="548640" y="5074920"/>
            <a:ext cx="3474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519379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1.1%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2194560" y="5193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session → cart rate: interest isn’t turning into intent</a:t>
            </a:r>
            <a:endParaRPr lang="en-US" sz="1200" dirty="0"/>
          </a:p>
        </p:txBody>
      </p:sp>
      <p:sp>
        <p:nvSpPr>
          <p:cNvPr id="8" name="Takeaway 2"/>
          <p:cNvSpPr/>
          <p:nvPr/>
        </p:nvSpPr>
        <p:spPr>
          <a:xfrm>
            <a:off x="4297680" y="5074920"/>
            <a:ext cx="3474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26280" y="519379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 / 0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5193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checkouts / orders: too few to judge checkout, so we test it</a:t>
            </a:r>
            <a:endParaRPr lang="en-US" sz="1200" dirty="0"/>
          </a:p>
        </p:txBody>
      </p:sp>
      <p:sp>
        <p:nvSpPr>
          <p:cNvPr id="11" name="Takeaway 3"/>
          <p:cNvSpPr/>
          <p:nvPr/>
        </p:nvSpPr>
        <p:spPr>
          <a:xfrm>
            <a:off x="8046720" y="5074920"/>
            <a:ext cx="3474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519379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Oct 16–17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692640" y="51937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peak days (62 and 58), after links were shared, then the traffic fades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4800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*Oct 21 is a partial day. Source: Shopify Analytics.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Statistics: who visits, and from where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343400" y="12801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092440" y="1280160"/>
          <a:ext cx="3520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Insight 1"/>
          <p:cNvSpPr/>
          <p:nvPr/>
        </p:nvSpPr>
        <p:spPr>
          <a:xfrm>
            <a:off x="548640" y="50749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7724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Traffic is mostly links shared on WhatsApp. Social sends just 16 sessions (Facebook 9, Instagram 7).</a:t>
            </a:r>
            <a:endParaRPr lang="en-US" sz="1200" dirty="0"/>
          </a:p>
        </p:txBody>
      </p:sp>
      <p:sp>
        <p:nvSpPr>
          <p:cNvPr id="8" name="Insight 2"/>
          <p:cNvSpPr/>
          <p:nvPr/>
        </p:nvSpPr>
        <p:spPr>
          <a:xfrm>
            <a:off x="4297680" y="50749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2628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40% of sessions come from the US, likely bots, testing or the diaspora, so KPIs use Lebanon only.</a:t>
            </a:r>
            <a:endParaRPr lang="en-US" sz="1200" dirty="0"/>
          </a:p>
        </p:txBody>
      </p:sp>
      <p:sp>
        <p:nvSpPr>
          <p:cNvPr id="10" name="Insight 3"/>
          <p:cNvSpPr/>
          <p:nvPr/>
        </p:nvSpPr>
        <p:spPr>
          <a:xfrm>
            <a:off x="8046720" y="507492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75320" y="5166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High desktop share is unusual for Lebanese shoppers, which also points to testing. Content will be built mobile-first.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Website audit: strong look, weak path to purchase</a:t>
            </a:r>
            <a:endParaRPr lang="en-US" sz="3200" dirty="0"/>
          </a:p>
        </p:txBody>
      </p:sp>
      <p:pic>
        <p:nvPicPr>
          <p:cNvPr id="3" name="Homepage desktop" descr="twainyplast.com desktop home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12064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99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Desktop homepage</a:t>
            </a:r>
            <a:endParaRPr lang="en-US" sz="1100" dirty="0"/>
          </a:p>
        </p:txBody>
      </p:sp>
      <p:pic>
        <p:nvPicPr>
          <p:cNvPr id="5" name="Homepage mobile" descr="Mobile home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6022"/>
            <a:ext cx="1600200" cy="346299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0" y="482217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Mobile home</a:t>
            </a:r>
            <a:endParaRPr lang="en-US" sz="1100" dirty="0"/>
          </a:p>
        </p:txBody>
      </p:sp>
      <p:pic>
        <p:nvPicPr>
          <p:cNvPr id="7" name="Product page mobile" descr="Mobile product p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86022"/>
            <a:ext cx="1600200" cy="346299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589520" y="482217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Mobile product page</a:t>
            </a:r>
            <a:endParaRPr lang="en-US" sz="11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3716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875520" y="1325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WhatsApp button and clear USD prices already in place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93852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875520" y="1892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Hero CTA says "Our Journey", not "Shop"</a:t>
            </a:r>
            <a:endParaRPr lang="en-US" sz="11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2505456"/>
            <a:ext cx="274320" cy="2743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875520" y="2459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 mobile, the logo and menu use the first screen; price sits below the fold</a:t>
            </a:r>
            <a:endParaRPr lang="en-US" sz="11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3072384"/>
            <a:ext cx="274320" cy="27432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9875520" y="302666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Main product images are AI renders, not real photos</a:t>
            </a:r>
            <a:endParaRPr lang="en-US" sz="11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3639312"/>
            <a:ext cx="274320" cy="27432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9875520" y="3593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Duplicate titles and numeric URLs (/products/2-1)</a:t>
            </a:r>
            <a:endParaRPr lang="en-US" sz="11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4206240"/>
            <a:ext cx="274320" cy="27432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9875520" y="4160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Delivery and payment terms are hidden until checkout</a:t>
            </a:r>
            <a:endParaRPr lang="en-US" sz="1100" dirty="0"/>
          </a:p>
        </p:txBody>
      </p:sp>
      <p:sp>
        <p:nvSpPr>
          <p:cNvPr id="21" name="Audit takeaway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1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 the trust and clarity gaps first (real photos, a delivery and payment bar, a "Shop" call to action, an "Ask before ordering" link on WhatsApp). Paid traffic sent to the current pages would mostly be wasted.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Research: competitors &amp; customers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Who else competes for the same renovation budget, and who exactly we are selling 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D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competitors to audit</a:t>
            </a:r>
            <a:endParaRPr lang="en-US" sz="3200" dirty="0"/>
          </a:p>
        </p:txBody>
      </p:sp>
      <p:sp>
        <p:nvSpPr>
          <p:cNvPr id="3" name="Competitor Builders Sal"/>
          <p:cNvSpPr/>
          <p:nvPr/>
        </p:nvSpPr>
        <p:spPr>
          <a:xfrm>
            <a:off x="548640" y="12801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68780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14600" y="1645920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1460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Direct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Builders Sal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Location: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Bauchrieh, Metn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Sells: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Baths, showers, toilets and taps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Why it matters: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An established showroom brand selling the same bathroom range to homeowners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Instagram / Facebook: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2"/>
                </a:solidFill>
              </a:rPr>
              <a:t>to verify</a:t>
            </a:r>
            <a:endParaRPr lang="en-US" sz="1300" dirty="0"/>
          </a:p>
        </p:txBody>
      </p:sp>
      <p:sp>
        <p:nvSpPr>
          <p:cNvPr id="10" name="Competitor Arcom Group Sarl"/>
          <p:cNvSpPr/>
          <p:nvPr/>
        </p:nvSpPr>
        <p:spPr>
          <a:xfrm>
            <a:off x="4297680" y="12801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5087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66878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63640" y="1645920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6364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Direct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Arcom Group Sarl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8346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Location: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Baabda · Sin El Fil · Verdun · Zahle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Sells: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Ceramics and sanitary-ware wholesaler, founded 2016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Why it matters: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multi-branch wholesaler with retail points, the closest match to Twainy’s mixed model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Instagram / Facebook: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2"/>
                </a:solidFill>
              </a:rPr>
              <a:t>to verify</a:t>
            </a:r>
            <a:endParaRPr lang="en-US" sz="1300" dirty="0"/>
          </a:p>
        </p:txBody>
      </p:sp>
      <p:sp>
        <p:nvSpPr>
          <p:cNvPr id="17" name="Competitor Chromotech Sarl"/>
          <p:cNvSpPr/>
          <p:nvPr/>
        </p:nvSpPr>
        <p:spPr>
          <a:xfrm>
            <a:off x="8046720" y="12801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1040" y="15087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66878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012680" y="1645920"/>
            <a:ext cx="128016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01268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Direct (trade)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Chromotech Sarl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28346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Location: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Hadath · Sin El Fil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Sells: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Sanitary ware and plumbing items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Why it matters: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plumbing-led supplier competing for plumbers and contractors (persona 2)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Instagram / Facebook: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2"/>
                </a:solidFill>
              </a:rPr>
              <a:t>to verify</a:t>
            </a:r>
            <a:endParaRPr lang="en-US" sz="1300" dirty="0"/>
          </a:p>
        </p:txBody>
      </p:sp>
      <p:sp>
        <p:nvSpPr>
          <p:cNvPr id="24" name="Competitor caveat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Source: Kompass Lebanon business directory. Social accounts and engagement are still to be verified (Oct 22–24). The brief asks for 1 indirect competitor, so if the owner names a home-improvement retailer, it replaces Chromotech.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Competitor social audit framework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1691640"/>
                <a:gridCol w="169164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Metric (last 30 days, same-day collection)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Twainy Plast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Builders Sal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Arcom Group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Chromotech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Platforms active (IG / FB / TikTok)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IG + FB (not yet active)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Posts per month · format mix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≈ 0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Engagement rate = avg. interactions ÷ followers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Share of voice (posts and engagement)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≈ 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Prices shown in posts?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Yes, on the website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Delivery and payment explained?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Only at checkout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Purchase path · test-DM reply time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Website + WhatsApp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Comment sentiment (last 50 comments)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5"/>
                          </a:solidFill>
                        </a:rPr>
                        <a:t>to collect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Gap hypothesis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Gap hypothesis to test: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few local sellers show prices, delivery terms and fit guidance online. Twainy can own "clear and honest".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target personas (to validate with interviews)</a:t>
            </a:r>
            <a:endParaRPr lang="en-US" sz="3200" dirty="0"/>
          </a:p>
        </p:txBody>
      </p:sp>
      <p:sp>
        <p:nvSpPr>
          <p:cNvPr id="3" name="Persona Rania, 34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145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Rania, 34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Homeowner renovating her bathroom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514600"/>
            <a:ext cx="48920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514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Goal: Buy online with confidence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“I can see it’s pretty, but will it fit my sink, and will it actually arrive?”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Greater Beirut / Mount Lebanon, middle income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793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Platforms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20240" y="4279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Instagram first, Facebook groups, WhatsApp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183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Active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920240" y="47183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13:00–14:00 and 21:00–23:00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1572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5157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Reels, before/after carousels, saved guides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5961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Pains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5596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Fit, quality from photos, delivery risk</a:t>
            </a:r>
            <a:endParaRPr lang="en-US" sz="1300" dirty="0"/>
          </a:p>
        </p:txBody>
      </p:sp>
      <p:sp>
        <p:nvSpPr>
          <p:cNvPr id="21" name="Persona Hassan, 45"/>
          <p:cNvSpPr/>
          <p:nvPr/>
        </p:nvSpPr>
        <p:spPr>
          <a:xfrm>
            <a:off x="6172200" y="128016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150876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171450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45236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Hassan, 45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45236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Plumber / small contractor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446520" y="2514600"/>
            <a:ext cx="489204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46520" y="2514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Goal: Request a quote on WhatsApp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30632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“Just tell me if you have it, the price today, and when I can pick it up.”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Where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5438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Store district and nearby areas, self-employed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6446520" y="42793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Platforms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543800" y="42793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WhatsApp first, Facebook, YouTube/TikTok how-tos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446520" y="47183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Active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7543800" y="47183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06:30–08:00 and 20:00–22:00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6446520" y="51572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Formats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7543800" y="5157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Price lists, WhatsApp catalogue, short demos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6446520" y="55961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Pains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7543800" y="5596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Stock checks, changing prices, slow replies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Ideation: brainstorm &amp; mind map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From many ideas to a focused, evidence-based strategy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D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Brainstorming: 16 ideas across 4 themes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 trust</a:t>
            </a:r>
            <a:endParaRPr lang="en-US" sz="1700" dirty="0"/>
          </a:p>
        </p:txBody>
      </p:sp>
      <p:sp>
        <p:nvSpPr>
          <p:cNvPr id="6" name="Idea Real photos of the 6 hero products"/>
          <p:cNvSpPr/>
          <p:nvPr/>
        </p:nvSpPr>
        <p:spPr>
          <a:xfrm>
            <a:off x="548640" y="2011680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2084832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photos of the 6 hero products</a:t>
            </a:r>
            <a:endParaRPr lang="en-US" sz="1300" dirty="0"/>
          </a:p>
        </p:txBody>
      </p:sp>
      <p:sp>
        <p:nvSpPr>
          <p:cNvPr id="8" name="Idea Meet-the-family store Reel"/>
          <p:cNvSpPr/>
          <p:nvPr/>
        </p:nvSpPr>
        <p:spPr>
          <a:xfrm>
            <a:off x="548640" y="2999232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3072384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Meet-the-family store Reel</a:t>
            </a:r>
            <a:endParaRPr lang="en-US" sz="1300" dirty="0"/>
          </a:p>
        </p:txBody>
      </p:sp>
      <p:sp>
        <p:nvSpPr>
          <p:cNvPr id="10" name="Idea Genuine Google reviews after delivery"/>
          <p:cNvSpPr/>
          <p:nvPr/>
        </p:nvSpPr>
        <p:spPr>
          <a:xfrm>
            <a:off x="548640" y="3986784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5800" y="4059936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Genuine Google reviews after delivery</a:t>
            </a:r>
            <a:endParaRPr lang="en-US" sz="1300" dirty="0"/>
          </a:p>
        </p:txBody>
      </p:sp>
      <p:sp>
        <p:nvSpPr>
          <p:cNvPr id="12" name="Idea Show packing and delivery"/>
          <p:cNvSpPr/>
          <p:nvPr/>
        </p:nvSpPr>
        <p:spPr>
          <a:xfrm>
            <a:off x="548640" y="4974336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5800" y="504748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 packing and delivery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6908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Help people choose</a:t>
            </a:r>
            <a:endParaRPr lang="en-US" sz="1700" dirty="0"/>
          </a:p>
        </p:txBody>
      </p:sp>
      <p:sp>
        <p:nvSpPr>
          <p:cNvPr id="17" name="Idea Mixer fit guide: 3 things to measure"/>
          <p:cNvSpPr/>
          <p:nvPr/>
        </p:nvSpPr>
        <p:spPr>
          <a:xfrm>
            <a:off x="3383280" y="2011680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520440" y="2084832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Mixer fit guide: 3 things to measure</a:t>
            </a:r>
            <a:endParaRPr lang="en-US" sz="1300" dirty="0"/>
          </a:p>
        </p:txBody>
      </p:sp>
      <p:sp>
        <p:nvSpPr>
          <p:cNvPr id="19" name="Idea Mirror size guide drawn to scale"/>
          <p:cNvSpPr/>
          <p:nvPr/>
        </p:nvSpPr>
        <p:spPr>
          <a:xfrm>
            <a:off x="3383280" y="2999232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3520440" y="3072384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 size guide drawn to scale</a:t>
            </a:r>
            <a:endParaRPr lang="en-US" sz="1300" dirty="0"/>
          </a:p>
        </p:txBody>
      </p:sp>
      <p:sp>
        <p:nvSpPr>
          <p:cNvPr id="21" name="Idea Send a photo, we tell you what fits"/>
          <p:cNvSpPr/>
          <p:nvPr/>
        </p:nvSpPr>
        <p:spPr>
          <a:xfrm>
            <a:off x="3383280" y="3986784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3520440" y="4059936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a photo, we tell you what fits</a:t>
            </a:r>
            <a:endParaRPr lang="en-US" sz="1300" dirty="0"/>
          </a:p>
        </p:txBody>
      </p:sp>
      <p:sp>
        <p:nvSpPr>
          <p:cNvPr id="23" name="Idea Weekly Q&amp;A from real questions"/>
          <p:cNvSpPr/>
          <p:nvPr/>
        </p:nvSpPr>
        <p:spPr>
          <a:xfrm>
            <a:off x="3383280" y="4974336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3520440" y="504748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Weekly Q&amp;A from real questions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9037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Make buying easy</a:t>
            </a:r>
            <a:endParaRPr lang="en-US" sz="1700" dirty="0"/>
          </a:p>
        </p:txBody>
      </p:sp>
      <p:sp>
        <p:nvSpPr>
          <p:cNvPr id="28" name="Idea Delivery and payment bar on product pages"/>
          <p:cNvSpPr/>
          <p:nvPr/>
        </p:nvSpPr>
        <p:spPr>
          <a:xfrm>
            <a:off x="6217920" y="2011680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6355080" y="2084832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Delivery and payment bar on product pages</a:t>
            </a:r>
            <a:endParaRPr lang="en-US" sz="1300" dirty="0"/>
          </a:p>
        </p:txBody>
      </p:sp>
      <p:sp>
        <p:nvSpPr>
          <p:cNvPr id="30" name="Idea &quot;Ask before ordering&quot; WhatsApp link"/>
          <p:cNvSpPr/>
          <p:nvPr/>
        </p:nvSpPr>
        <p:spPr>
          <a:xfrm>
            <a:off x="6217920" y="2999232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6355080" y="3072384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"Ask before ordering" WhatsApp link</a:t>
            </a:r>
            <a:endParaRPr lang="en-US" sz="1300" dirty="0"/>
          </a:p>
        </p:txBody>
      </p:sp>
      <p:sp>
        <p:nvSpPr>
          <p:cNvPr id="32" name="Idea Free-delivery offer with clear terms"/>
          <p:cNvSpPr/>
          <p:nvPr/>
        </p:nvSpPr>
        <p:spPr>
          <a:xfrm>
            <a:off x="6217920" y="3986784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6355080" y="4059936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Free-delivery offer with clear terms</a:t>
            </a:r>
            <a:endParaRPr lang="en-US" sz="1300" dirty="0"/>
          </a:p>
        </p:txBody>
      </p:sp>
      <p:sp>
        <p:nvSpPr>
          <p:cNvPr id="34" name="Idea Mobile checkout test order"/>
          <p:cNvSpPr/>
          <p:nvPr/>
        </p:nvSpPr>
        <p:spPr>
          <a:xfrm>
            <a:off x="6217920" y="4974336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6355080" y="504748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Mobile checkout test order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905256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417320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7383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Reach the right people</a:t>
            </a:r>
            <a:endParaRPr lang="en-US" sz="1700" dirty="0"/>
          </a:p>
        </p:txBody>
      </p:sp>
      <p:sp>
        <p:nvSpPr>
          <p:cNvPr id="39" name="Idea Geo-targeted $200 Meta test"/>
          <p:cNvSpPr/>
          <p:nvPr/>
        </p:nvSpPr>
        <p:spPr>
          <a:xfrm>
            <a:off x="9052560" y="2011680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9189720" y="2084832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Geo-targeted $200 Meta test</a:t>
            </a:r>
            <a:endParaRPr lang="en-US" sz="1300" dirty="0"/>
          </a:p>
        </p:txBody>
      </p:sp>
      <p:sp>
        <p:nvSpPr>
          <p:cNvPr id="41" name="Idea Google Business Profile + maps"/>
          <p:cNvSpPr/>
          <p:nvPr/>
        </p:nvSpPr>
        <p:spPr>
          <a:xfrm>
            <a:off x="9052560" y="2999232"/>
            <a:ext cx="2606040" cy="841248"/>
          </a:xfrm>
          <a:prstGeom prst="rect">
            <a:avLst/>
          </a:prstGeom>
          <a:solidFill>
            <a:srgbClr val="DDEFE1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9189720" y="3072384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 Business Profile + maps</a:t>
            </a:r>
            <a:endParaRPr lang="en-US" sz="1300" dirty="0"/>
          </a:p>
        </p:txBody>
      </p:sp>
      <p:sp>
        <p:nvSpPr>
          <p:cNvPr id="43" name="Idea Plumber WhatsApp price list"/>
          <p:cNvSpPr/>
          <p:nvPr/>
        </p:nvSpPr>
        <p:spPr>
          <a:xfrm>
            <a:off x="9052560" y="3986784"/>
            <a:ext cx="2606040" cy="841248"/>
          </a:xfrm>
          <a:prstGeom prst="rect">
            <a:avLst/>
          </a:prstGeom>
          <a:solidFill>
            <a:srgbClr val="E8F4EA"/>
          </a:solidFill>
          <a:ln w="9525">
            <a:solidFill>
              <a:srgbClr val="A9CDB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9189720" y="4059936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Plumber WhatsApp price list</a:t>
            </a:r>
            <a:endParaRPr lang="en-US" sz="1300" dirty="0"/>
          </a:p>
        </p:txBody>
      </p:sp>
      <p:sp>
        <p:nvSpPr>
          <p:cNvPr id="45" name="Idea Influencer or TikTok push"/>
          <p:cNvSpPr/>
          <p:nvPr/>
        </p:nvSpPr>
        <p:spPr>
          <a:xfrm>
            <a:off x="9052560" y="4974336"/>
            <a:ext cx="2606040" cy="841248"/>
          </a:xfrm>
          <a:prstGeom prst="rect">
            <a:avLst/>
          </a:prstGeom>
          <a:solidFill>
            <a:srgbClr val="F1F3F2"/>
          </a:solidFill>
          <a:ln w="9525">
            <a:solidFill>
              <a:srgbClr val="8D99AE"/>
            </a:solidFill>
            <a:prstDash val="dash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0"/>
          <p:cNvSpPr txBox="1"/>
          <p:nvPr/>
        </p:nvSpPr>
        <p:spPr>
          <a:xfrm>
            <a:off x="9189720" y="5047488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Influencer or TikTok push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Dashed note = parked for later (low fit or capacity). All other ideas feed the campaign. Generated from the team session plus the store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Prioritising ideas: impact vs effort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74720" cy="2423160"/>
          </a:xfrm>
          <a:prstGeom prst="rect">
            <a:avLst/>
          </a:prstGeom>
          <a:solidFill>
            <a:srgbClr val="DDEF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Quick wins: do 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0" y="1280160"/>
            <a:ext cx="3474720" cy="2423160"/>
          </a:xfrm>
          <a:prstGeom prst="rect">
            <a:avLst/>
          </a:prstGeom>
          <a:solidFill>
            <a:srgbClr val="E8F4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Big bets: plan carefully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3474720" cy="2423160"/>
          </a:xfrm>
          <a:prstGeom prst="rect">
            <a:avLst/>
          </a:prstGeom>
          <a:solidFill>
            <a:srgbClr val="F4F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Fill-ins: do when time allows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3703320"/>
            <a:ext cx="3474720" cy="2423160"/>
          </a:xfrm>
          <a:prstGeom prst="rect">
            <a:avLst/>
          </a:prstGeom>
          <a:solidFill>
            <a:srgbClr val="F1F3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High impact ↑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6172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effort ←   → High effort</a:t>
            </a:r>
            <a:endParaRPr lang="en-US" sz="1000" dirty="0"/>
          </a:p>
        </p:txBody>
      </p:sp>
      <p:sp>
        <p:nvSpPr>
          <p:cNvPr id="13" name="Dot 0"/>
          <p:cNvSpPr/>
          <p:nvPr/>
        </p:nvSpPr>
        <p:spPr>
          <a:xfrm>
            <a:off x="1104595" y="224942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0627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WhatsApp ask link</a:t>
            </a:r>
            <a:endParaRPr lang="en-US" sz="1200" dirty="0"/>
          </a:p>
        </p:txBody>
      </p:sp>
      <p:sp>
        <p:nvSpPr>
          <p:cNvPr id="15" name="Dot 1"/>
          <p:cNvSpPr/>
          <p:nvPr/>
        </p:nvSpPr>
        <p:spPr>
          <a:xfrm>
            <a:off x="2424989" y="263713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81021" y="26005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Delivery bar</a:t>
            </a:r>
            <a:endParaRPr lang="en-US" sz="1200" dirty="0"/>
          </a:p>
        </p:txBody>
      </p:sp>
      <p:sp>
        <p:nvSpPr>
          <p:cNvPr id="17" name="Dot 2"/>
          <p:cNvSpPr/>
          <p:nvPr/>
        </p:nvSpPr>
        <p:spPr>
          <a:xfrm>
            <a:off x="1382573" y="312176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38605" y="308518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Real photos</a:t>
            </a:r>
            <a:endParaRPr lang="en-US" sz="1200" dirty="0"/>
          </a:p>
        </p:txBody>
      </p:sp>
      <p:sp>
        <p:nvSpPr>
          <p:cNvPr id="19" name="Dot 3"/>
          <p:cNvSpPr/>
          <p:nvPr/>
        </p:nvSpPr>
        <p:spPr>
          <a:xfrm>
            <a:off x="2633472" y="331561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9504" y="327903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GBP + reviews</a:t>
            </a:r>
            <a:endParaRPr lang="en-US" sz="1200" dirty="0"/>
          </a:p>
        </p:txBody>
      </p:sp>
      <p:sp>
        <p:nvSpPr>
          <p:cNvPr id="21" name="Dot 4"/>
          <p:cNvSpPr/>
          <p:nvPr/>
        </p:nvSpPr>
        <p:spPr>
          <a:xfrm>
            <a:off x="4718304" y="2249424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74336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Reels</a:t>
            </a:r>
            <a:endParaRPr lang="en-US" sz="1200" dirty="0"/>
          </a:p>
        </p:txBody>
      </p:sp>
      <p:sp>
        <p:nvSpPr>
          <p:cNvPr id="23" name="Dot 5"/>
          <p:cNvSpPr/>
          <p:nvPr/>
        </p:nvSpPr>
        <p:spPr>
          <a:xfrm>
            <a:off x="5969203" y="27340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25235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$200 paid test</a:t>
            </a:r>
            <a:endParaRPr lang="en-US" sz="1200" dirty="0"/>
          </a:p>
        </p:txBody>
      </p:sp>
      <p:sp>
        <p:nvSpPr>
          <p:cNvPr id="25" name="Dot 6"/>
          <p:cNvSpPr/>
          <p:nvPr/>
        </p:nvSpPr>
        <p:spPr>
          <a:xfrm>
            <a:off x="4718304" y="321868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74336" y="3182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Fit &amp; size guides</a:t>
            </a:r>
            <a:endParaRPr lang="en-US" sz="1200" dirty="0"/>
          </a:p>
        </p:txBody>
      </p:sp>
      <p:sp>
        <p:nvSpPr>
          <p:cNvPr id="27" name="Dot 7"/>
          <p:cNvSpPr/>
          <p:nvPr/>
        </p:nvSpPr>
        <p:spPr>
          <a:xfrm>
            <a:off x="1243584" y="443026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99616" y="43936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Hashtag sets</a:t>
            </a:r>
            <a:endParaRPr lang="en-US" sz="1200" dirty="0"/>
          </a:p>
        </p:txBody>
      </p:sp>
      <p:sp>
        <p:nvSpPr>
          <p:cNvPr id="29" name="Dot 8"/>
          <p:cNvSpPr/>
          <p:nvPr/>
        </p:nvSpPr>
        <p:spPr>
          <a:xfrm>
            <a:off x="2633472" y="491490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9504" y="48783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Weekly Q&amp;A</a:t>
            </a:r>
            <a:endParaRPr lang="en-US" sz="1200" dirty="0"/>
          </a:p>
        </p:txBody>
      </p:sp>
      <p:sp>
        <p:nvSpPr>
          <p:cNvPr id="31" name="Dot 9"/>
          <p:cNvSpPr/>
          <p:nvPr/>
        </p:nvSpPr>
        <p:spPr>
          <a:xfrm>
            <a:off x="4718304" y="457565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74336" y="453908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TikTok push</a:t>
            </a:r>
            <a:endParaRPr lang="en-US" sz="1200" dirty="0"/>
          </a:p>
        </p:txBody>
      </p:sp>
      <p:sp>
        <p:nvSpPr>
          <p:cNvPr id="33" name="Dot 10"/>
          <p:cNvSpPr/>
          <p:nvPr/>
        </p:nvSpPr>
        <p:spPr>
          <a:xfrm>
            <a:off x="5969203" y="515721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25235" y="5120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Paid influencers</a:t>
            </a:r>
            <a:endParaRPr lang="en-US" sz="1200" dirty="0"/>
          </a:p>
        </p:txBody>
      </p:sp>
      <p:sp>
        <p:nvSpPr>
          <p:cNvPr id="35" name="Dot 11"/>
          <p:cNvSpPr/>
          <p:nvPr/>
        </p:nvSpPr>
        <p:spPr>
          <a:xfrm>
            <a:off x="5065776" y="554492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21808" y="550834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LinkedIn</a:t>
            </a:r>
            <a:endParaRPr lang="en-US" sz="1200" dirty="0"/>
          </a:p>
        </p:txBody>
      </p:sp>
      <p:sp>
        <p:nvSpPr>
          <p:cNvPr id="37" name="Priority decision"/>
          <p:cNvSpPr/>
          <p:nvPr/>
        </p:nvSpPr>
        <p:spPr>
          <a:xfrm>
            <a:off x="7863840" y="128016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Decision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8138160" y="192024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Week 0: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finish all quick wins before any ad money is spent.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Weeks 1–4: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the big bets (Reels, fit guides, $200 test) become the campaign.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Parked: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TikTok gets a free repost test in week 4 only. Paid influencers and LinkedIn are out of scope.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Strategy mind 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45031" y="2766060"/>
            <a:ext cx="2850817" cy="93726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095848" y="1828800"/>
            <a:ext cx="9144" cy="187452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095848" y="2766060"/>
            <a:ext cx="2850817" cy="93726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3703320"/>
            <a:ext cx="2850817" cy="93726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3703320"/>
            <a:ext cx="9144" cy="187452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245031" y="3703320"/>
            <a:ext cx="2850817" cy="937260"/>
          </a:xfrm>
          <a:prstGeom prst="line">
            <a:avLst/>
          </a:prstGeom>
          <a:noFill/>
          <a:ln w="31750">
            <a:solidFill>
              <a:srgbClr val="A9CDB1"/>
            </a:solidFill>
            <a:prstDash val="solid"/>
          </a:ln>
        </p:spPr>
      </p:sp>
      <p:sp>
        <p:nvSpPr>
          <p:cNvPr id="9" name="Mind map centre"/>
          <p:cNvSpPr/>
          <p:nvPr/>
        </p:nvSpPr>
        <p:spPr>
          <a:xfrm>
            <a:off x="4952848" y="3017520"/>
            <a:ext cx="2286000" cy="13716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44288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Visitors → Customers</a:t>
            </a:r>
            <a:endParaRPr lang="en-US" sz="1700" dirty="0"/>
          </a:p>
        </p:txBody>
      </p:sp>
      <p:sp>
        <p:nvSpPr>
          <p:cNvPr id="11" name="Branch Audience"/>
          <p:cNvSpPr/>
          <p:nvPr/>
        </p:nvSpPr>
        <p:spPr>
          <a:xfrm>
            <a:off x="2467791" y="25374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7791" y="25374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Audience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7511" y="23545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Rania: homeowner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Hassan: plumber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Lebanon geo only</a:t>
            </a:r>
            <a:endParaRPr lang="en-US" sz="1200" dirty="0"/>
          </a:p>
        </p:txBody>
      </p:sp>
      <p:sp>
        <p:nvSpPr>
          <p:cNvPr id="14" name="Branch Trust"/>
          <p:cNvSpPr/>
          <p:nvPr/>
        </p:nvSpPr>
        <p:spPr>
          <a:xfrm>
            <a:off x="5318608" y="16002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8608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Trust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10248" y="1417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Real photos &amp; store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Genuine reviews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People, not renders</a:t>
            </a:r>
            <a:endParaRPr lang="en-US" sz="1200" dirty="0"/>
          </a:p>
        </p:txBody>
      </p:sp>
      <p:sp>
        <p:nvSpPr>
          <p:cNvPr id="17" name="Branch Content"/>
          <p:cNvSpPr/>
          <p:nvPr/>
        </p:nvSpPr>
        <p:spPr>
          <a:xfrm>
            <a:off x="8169425" y="25374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69425" y="25374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861065" y="23545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 pillars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Reels · 5 posts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 + EN captions</a:t>
            </a:r>
            <a:endParaRPr lang="en-US" sz="1200" dirty="0"/>
          </a:p>
        </p:txBody>
      </p:sp>
      <p:sp>
        <p:nvSpPr>
          <p:cNvPr id="20" name="Branch Channels"/>
          <p:cNvSpPr/>
          <p:nvPr/>
        </p:nvSpPr>
        <p:spPr>
          <a:xfrm>
            <a:off x="8169425" y="441198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9425" y="4411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Channels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61065" y="42291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Instagram + Facebook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WhatsApp Business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Google profile · website</a:t>
            </a:r>
            <a:endParaRPr lang="en-US" sz="1200" dirty="0"/>
          </a:p>
        </p:txBody>
      </p:sp>
      <p:sp>
        <p:nvSpPr>
          <p:cNvPr id="23" name="Branch Conversion"/>
          <p:cNvSpPr/>
          <p:nvPr/>
        </p:nvSpPr>
        <p:spPr>
          <a:xfrm>
            <a:off x="5318608" y="534924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18608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Conversion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10248" y="5166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Delivery &amp; payment bar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Clear offer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Checkout test</a:t>
            </a:r>
            <a:endParaRPr lang="en-US" sz="1200" dirty="0"/>
          </a:p>
        </p:txBody>
      </p:sp>
      <p:sp>
        <p:nvSpPr>
          <p:cNvPr id="26" name="Branch Measurement"/>
          <p:cNvSpPr/>
          <p:nvPr/>
        </p:nvSpPr>
        <p:spPr>
          <a:xfrm>
            <a:off x="2467791" y="441198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67791" y="4411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Measurement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27511" y="42291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GA4 + Pixel + UTMs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 · ROAS · CR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Weekly review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Ethics runs through every branch: consent and privacy, honest offers, genuine reviews, and no sensitive ad targeting.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Strategy: "Choose with Confidence"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اختار بثقة · a 4-week campaign, Oct 29 – Nov 25,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D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Channel ecosystem: every channel has one job</a:t>
            </a:r>
            <a:endParaRPr lang="en-US" sz="3200" dirty="0"/>
          </a:p>
        </p:txBody>
      </p:sp>
      <p:sp>
        <p:nvSpPr>
          <p:cNvPr id="3" name="Stage Discover"/>
          <p:cNvSpPr/>
          <p:nvPr/>
        </p:nvSpPr>
        <p:spPr>
          <a:xfrm>
            <a:off x="548640" y="1325880"/>
            <a:ext cx="2697480" cy="822960"/>
          </a:xfrm>
          <a:prstGeom prst="chevron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Discover</a:t>
            </a:r>
            <a:endParaRPr lang="en-US" sz="2000" dirty="0"/>
          </a:p>
        </p:txBody>
      </p:sp>
      <p:sp>
        <p:nvSpPr>
          <p:cNvPr id="5" name="Stage Discover channels"/>
          <p:cNvSpPr/>
          <p:nvPr/>
        </p:nvSpPr>
        <p:spPr>
          <a:xfrm>
            <a:off x="548640" y="23317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6403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108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Instagram Reels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Facebook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Google Maps &amp; Search</a:t>
            </a:r>
            <a:endParaRPr lang="en-US" sz="1300" dirty="0"/>
          </a:p>
        </p:txBody>
      </p:sp>
      <p:sp>
        <p:nvSpPr>
          <p:cNvPr id="9" name="Stage Consider"/>
          <p:cNvSpPr/>
          <p:nvPr/>
        </p:nvSpPr>
        <p:spPr>
          <a:xfrm>
            <a:off x="3383280" y="1325880"/>
            <a:ext cx="2697480" cy="822960"/>
          </a:xfrm>
          <a:prstGeom prst="chevron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Consider</a:t>
            </a:r>
            <a:endParaRPr lang="en-US" sz="2000" dirty="0"/>
          </a:p>
        </p:txBody>
      </p:sp>
      <p:sp>
        <p:nvSpPr>
          <p:cNvPr id="11" name="Stage Consider channels"/>
          <p:cNvSpPr/>
          <p:nvPr/>
        </p:nvSpPr>
        <p:spPr>
          <a:xfrm>
            <a:off x="3383280" y="23317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26403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3108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Carousels &amp; guides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Story highlights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Reviews · product pages</a:t>
            </a:r>
            <a:endParaRPr lang="en-US" sz="1300" dirty="0"/>
          </a:p>
        </p:txBody>
      </p:sp>
      <p:sp>
        <p:nvSpPr>
          <p:cNvPr id="15" name="Stage Convert"/>
          <p:cNvSpPr/>
          <p:nvPr/>
        </p:nvSpPr>
        <p:spPr>
          <a:xfrm>
            <a:off x="6217920" y="1325880"/>
            <a:ext cx="2697480" cy="822960"/>
          </a:xfrm>
          <a:prstGeom prst="chevron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62940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Convert</a:t>
            </a:r>
            <a:endParaRPr lang="en-US" sz="2000" dirty="0"/>
          </a:p>
        </p:txBody>
      </p:sp>
      <p:sp>
        <p:nvSpPr>
          <p:cNvPr id="17" name="Stage Convert channels"/>
          <p:cNvSpPr/>
          <p:nvPr/>
        </p:nvSpPr>
        <p:spPr>
          <a:xfrm>
            <a:off x="6217920" y="23317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64033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3108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Website checkout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WhatsApp: ask, then order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Clear offer &amp; terms</a:t>
            </a:r>
            <a:endParaRPr lang="en-US" sz="1300" dirty="0"/>
          </a:p>
        </p:txBody>
      </p:sp>
      <p:sp>
        <p:nvSpPr>
          <p:cNvPr id="21" name="Stage Retain"/>
          <p:cNvSpPr/>
          <p:nvPr/>
        </p:nvSpPr>
        <p:spPr>
          <a:xfrm>
            <a:off x="9052560" y="1325880"/>
            <a:ext cx="2697480" cy="822960"/>
          </a:xfrm>
          <a:prstGeom prst="chevron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464040" y="1325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Retain</a:t>
            </a:r>
            <a:endParaRPr lang="en-US" sz="2000" dirty="0"/>
          </a:p>
        </p:txBody>
      </p:sp>
      <p:sp>
        <p:nvSpPr>
          <p:cNvPr id="23" name="Stage Retain channels"/>
          <p:cNvSpPr/>
          <p:nvPr/>
        </p:nvSpPr>
        <p:spPr>
          <a:xfrm>
            <a:off x="9052560" y="23317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8116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890" y="2640330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81160" y="3108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 broadcasts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requests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Plumber price list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4480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Instagram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2926080" y="448056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Primary: Rania’s platform; Reels reach non-followers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828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Facebook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2926080" y="482803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ads account; already sends the most social sessions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175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WhatsApp Business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2926080" y="517550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Hassan’s tool: advice, quotes, assisted orders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5522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Google Business Profile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2926080" y="552297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"Near me" searches, maps, reviews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870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Deferred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2926080" y="587044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TikTok (repost test in week 4) · LinkedIn (excluded)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4-week campaign and content pillars</a:t>
            </a:r>
            <a:endParaRPr lang="en-US" sz="3200" dirty="0"/>
          </a:p>
        </p:txBody>
      </p:sp>
      <p:sp>
        <p:nvSpPr>
          <p:cNvPr id="3" name="Week 1 card"/>
          <p:cNvSpPr/>
          <p:nvPr/>
        </p:nvSpPr>
        <p:spPr>
          <a:xfrm>
            <a:off x="548640" y="128016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Week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Oct 29 – Nov 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Establish trust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Reel 1: meet the store · how-to-order post · Google profile launch</a:t>
            </a:r>
            <a:endParaRPr lang="en-US" sz="1200" dirty="0"/>
          </a:p>
        </p:txBody>
      </p:sp>
      <p:sp>
        <p:nvSpPr>
          <p:cNvPr id="8" name="Week 2 card"/>
          <p:cNvSpPr/>
          <p:nvPr/>
        </p:nvSpPr>
        <p:spPr>
          <a:xfrm>
            <a:off x="3383280" y="128016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Week 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Nov 5 – Nov 11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Help people choose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560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Reel 2: 3 things to check · mixer and mirror guides · A/B ad test</a:t>
            </a:r>
            <a:endParaRPr lang="en-US" sz="1200" dirty="0"/>
          </a:p>
        </p:txBody>
      </p:sp>
      <p:sp>
        <p:nvSpPr>
          <p:cNvPr id="13" name="Week 3 card"/>
          <p:cNvSpPr/>
          <p:nvPr/>
        </p:nvSpPr>
        <p:spPr>
          <a:xfrm>
            <a:off x="6217920" y="128016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Week 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Nov 12 – Nov 18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Encourage purchase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60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Offer post · Reel 3: click to door · retargeting</a:t>
            </a:r>
            <a:endParaRPr lang="en-US" sz="1200" dirty="0"/>
          </a:p>
        </p:txBody>
      </p:sp>
      <p:sp>
        <p:nvSpPr>
          <p:cNvPr id="18" name="Week 4 card"/>
          <p:cNvSpPr/>
          <p:nvPr/>
        </p:nvSpPr>
        <p:spPr>
          <a:xfrm>
            <a:off x="9052560" y="1280160"/>
            <a:ext cx="260604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Week 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Nov 19 – Nov 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Proof and improvement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5603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Customer story · Q&amp;A · review requests · re-cut the best Reel</a:t>
            </a:r>
            <a:endParaRPr lang="en-US" sz="1200" dirty="0"/>
          </a:p>
        </p:txBody>
      </p:sp>
      <p:sp>
        <p:nvSpPr>
          <p:cNvPr id="23" name="Pillar Choose Right"/>
          <p:cNvSpPr/>
          <p:nvPr/>
        </p:nvSpPr>
        <p:spPr>
          <a:xfrm>
            <a:off x="548640" y="4069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Choose Right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Education: fit, size, comparisons</a:t>
            </a:r>
            <a:endParaRPr lang="en-US" sz="1300" dirty="0"/>
          </a:p>
        </p:txBody>
      </p:sp>
      <p:sp>
        <p:nvSpPr>
          <p:cNvPr id="27" name="Pillar Inside Twainy"/>
          <p:cNvSpPr/>
          <p:nvPr/>
        </p:nvSpPr>
        <p:spPr>
          <a:xfrm>
            <a:off x="3383280" y="4069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25%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Inside Twainy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People, store, packing, delivery</a:t>
            </a:r>
            <a:endParaRPr lang="en-US" sz="1300" dirty="0"/>
          </a:p>
        </p:txBody>
      </p:sp>
      <p:sp>
        <p:nvSpPr>
          <p:cNvPr id="31" name="Pillar Real Homes"/>
          <p:cNvSpPr/>
          <p:nvPr/>
        </p:nvSpPr>
        <p:spPr>
          <a:xfrm>
            <a:off x="6217920" y="4069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20%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 Homes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Genuine reviews and installed projects</a:t>
            </a:r>
            <a:endParaRPr lang="en-US" sz="1300" dirty="0"/>
          </a:p>
        </p:txBody>
      </p:sp>
      <p:sp>
        <p:nvSpPr>
          <p:cNvPr id="35" name="Pillar Order Easy"/>
          <p:cNvSpPr/>
          <p:nvPr/>
        </p:nvSpPr>
        <p:spPr>
          <a:xfrm>
            <a:off x="9052560" y="4069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4206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20%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10287000" y="4279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Order Easy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4846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Offers, prices, how to order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Rhythm: 3 feed posts/week (IG + FB) · Stories 3–5 days/week · 1 WhatsApp broadcast · 1 Google post. Posting times start at 13:00 and 21:00 (plumbers 08:00) and are re-set from Insights after week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Creative preview: profile mockups and posts</a:t>
            </a:r>
            <a:endParaRPr lang="en-US" sz="3200" dirty="0"/>
          </a:p>
        </p:txBody>
      </p:sp>
      <p:pic>
        <p:nvPicPr>
          <p:cNvPr id="3" name="Instagram profile" descr="Instagram pro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324" y="1280160"/>
            <a:ext cx="2042351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Instagram profile</a:t>
            </a:r>
            <a:endParaRPr lang="en-US" sz="1200" dirty="0"/>
          </a:p>
        </p:txBody>
      </p:sp>
      <p:pic>
        <p:nvPicPr>
          <p:cNvPr id="5" name="Link-in-bio page" descr="Link-in-bio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849" y="1280160"/>
            <a:ext cx="1918463" cy="4343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017520" y="5715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Link-in-bio page</a:t>
            </a:r>
            <a:endParaRPr lang="en-US" sz="1200" dirty="0"/>
          </a:p>
        </p:txBody>
      </p:sp>
      <p:pic>
        <p:nvPicPr>
          <p:cNvPr id="7" name="Post 1: Short vs Tall Neck" descr="Post 1: Short vs Tall N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280160"/>
            <a:ext cx="2057400" cy="25766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257800" y="394820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Post 1: Short vs Tall Neck</a:t>
            </a:r>
            <a:endParaRPr lang="en-US" sz="1200" dirty="0"/>
          </a:p>
        </p:txBody>
      </p:sp>
      <p:pic>
        <p:nvPicPr>
          <p:cNvPr id="9" name="Post 2: Mirror size guide" descr="Post 2: Mirror size gu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280160"/>
            <a:ext cx="2057400" cy="257660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452360" y="394820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Post 2: Mirror size guide</a:t>
            </a:r>
            <a:endParaRPr lang="en-US" sz="1200" dirty="0"/>
          </a:p>
        </p:txBody>
      </p:sp>
      <p:pic>
        <p:nvPicPr>
          <p:cNvPr id="11" name="Post 5: Campaign offer" descr="Post 5: Campaign off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1280160"/>
            <a:ext cx="1965960" cy="1970597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646920" y="3342197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Post 5: Campaign offer</a:t>
            </a:r>
            <a:endParaRPr lang="en-US" sz="12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Five static posts and carousels in total (plus a how-to-order FAQ and a customer story). Renders shown here will be replaced by real product photos before launch.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Short-form video: 3 Reel storyboards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Reel 1 · Week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Meet Twainy Plast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Hook: “Before you buy a faucet online… meet who’s selling it.”</a:t>
            </a:r>
            <a:endParaRPr lang="en-US" sz="1200" dirty="0"/>
          </a:p>
        </p:txBody>
      </p:sp>
      <p:pic>
        <p:nvPicPr>
          <p:cNvPr id="6" name="Meet Twainy Plast" descr="Meet Twainy Plast storyboard fr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280160"/>
            <a:ext cx="5963385" cy="1554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Reel 2 · Week 2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things to check before buying a mixer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94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Hook: “This is why your new mixer doesn’t fit.”</a:t>
            </a:r>
            <a:endParaRPr lang="en-US" sz="1200" dirty="0"/>
          </a:p>
        </p:txBody>
      </p:sp>
      <p:pic>
        <p:nvPicPr>
          <p:cNvPr id="10" name="3 things to check before buying a mixer" descr="3 things to check before buying a mixer storyboard fra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26080"/>
            <a:ext cx="6275316" cy="1554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Reel 3 · Week 3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846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From click to your door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40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Hook: “Ordering a mirror online in Lebanon? Watch this.”</a:t>
            </a:r>
            <a:endParaRPr lang="en-US" sz="1200" dirty="0"/>
          </a:p>
        </p:txBody>
      </p:sp>
      <p:pic>
        <p:nvPicPr>
          <p:cNvPr id="14" name="From click to your door" descr="From click to your door storyboard fra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572000"/>
            <a:ext cx="6294684" cy="1554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$200 paid test and KPI targets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18872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Formula / tool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4-week target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Lebanon sessions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GA4 + Shopify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120 / 14 days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1,000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Engagement rate by reach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interactions ÷ reach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≥ 3%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Link CTR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clicks ÷ impressions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≥ 1%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Add-to-cart rate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cart sessions ÷ sessions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1.1%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4%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Conversion rate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orders ÷ sessions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1% (~10 orders)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CAC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spend ÷ new customers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≤ $20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ROAS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revenue ÷ ad spend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≥ 2.5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Reply time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median first response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F1C"/>
                          </a:solidFill>
                        </a:rPr>
                        <a:t>&lt; 1 hour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OI note"/>
          <p:cNvSpPr/>
          <p:nvPr/>
        </p:nvSpPr>
        <p:spPr>
          <a:xfrm>
            <a:off x="4937760" y="5349240"/>
            <a:ext cx="66751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166360" y="5394960"/>
            <a:ext cx="6263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Planning scenario: 18 orders × $45 → ROAS 4.0×, yet about −$11 short of break-even at a 30% margin. It turns positive with repeat buyers, so a high ROAS alone does not mean profit.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roadmap: Oct 22 → Dec 3, 2026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08960" y="1234440"/>
            <a:ext cx="1214846" cy="365760"/>
          </a:xfrm>
          <a:prstGeom prst="rect">
            <a:avLst/>
          </a:prstGeom>
          <a:solidFill>
            <a:srgbClr val="E2EE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0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Oct 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323806" y="1234440"/>
            <a:ext cx="1214846" cy="365760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23806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Oct 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3806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538651" y="1234440"/>
            <a:ext cx="1214846" cy="365760"/>
          </a:xfrm>
          <a:prstGeom prst="rect">
            <a:avLst/>
          </a:prstGeom>
          <a:solidFill>
            <a:srgbClr val="E2EE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8651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Nov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8651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753497" y="1234440"/>
            <a:ext cx="1214846" cy="365760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3497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Nov 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3497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968343" y="1234440"/>
            <a:ext cx="1214846" cy="365760"/>
          </a:xfrm>
          <a:prstGeom prst="rect">
            <a:avLst/>
          </a:prstGeom>
          <a:solidFill>
            <a:srgbClr val="E2EE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68343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Nov 16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68343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183189" y="1234440"/>
            <a:ext cx="1214846" cy="365760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3189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Nov 23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3189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398034" y="1234440"/>
            <a:ext cx="1214846" cy="365760"/>
          </a:xfrm>
          <a:prstGeom prst="rect">
            <a:avLst/>
          </a:prstGeom>
          <a:solidFill>
            <a:srgbClr val="E2EE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98034" y="1234440"/>
            <a:ext cx="12148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Wk of Nov 30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98034" y="1600200"/>
            <a:ext cx="0" cy="4343400"/>
          </a:xfrm>
          <a:prstGeom prst="line">
            <a:avLst/>
          </a:prstGeom>
          <a:noFill/>
          <a:ln w="9525">
            <a:solidFill>
              <a:srgbClr val="E3E8E5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548640" y="1783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· Brief &amp; consent</a:t>
            </a:r>
            <a:endParaRPr lang="en-US" sz="1300" dirty="0"/>
          </a:p>
        </p:txBody>
      </p:sp>
      <p:sp>
        <p:nvSpPr>
          <p:cNvPr id="25" name="Bar 1 · Brief &amp; consent"/>
          <p:cNvSpPr/>
          <p:nvPr/>
        </p:nvSpPr>
        <p:spPr>
          <a:xfrm>
            <a:off x="3463290" y="1828800"/>
            <a:ext cx="354330" cy="274320"/>
          </a:xfrm>
          <a:prstGeom prst="roundRect">
            <a:avLst>
              <a:gd name="adj" fmla="val 50000"/>
            </a:avLst>
          </a:prstGeom>
          <a:solidFill>
            <a:srgbClr val="D63A14"/>
          </a:solidFill>
          <a:ln w="12700">
            <a:solidFill>
              <a:srgbClr val="D63A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2585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· Research: audit, interviews</a:t>
            </a:r>
            <a:endParaRPr lang="en-US" sz="1300" dirty="0"/>
          </a:p>
        </p:txBody>
      </p:sp>
      <p:sp>
        <p:nvSpPr>
          <p:cNvPr id="27" name="Bar 2 · Research: audit, interviews"/>
          <p:cNvSpPr/>
          <p:nvPr/>
        </p:nvSpPr>
        <p:spPr>
          <a:xfrm>
            <a:off x="3640455" y="2304288"/>
            <a:ext cx="1240155" cy="274320"/>
          </a:xfrm>
          <a:prstGeom prst="roundRect">
            <a:avLst>
              <a:gd name="adj" fmla="val 50000"/>
            </a:avLst>
          </a:prstGeom>
          <a:solidFill>
            <a:srgbClr val="1B4D2B"/>
          </a:solidFill>
          <a:ln w="12700">
            <a:solidFill>
              <a:srgbClr val="1B4D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340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· Store fixes + GA4/Pixel</a:t>
            </a:r>
            <a:endParaRPr lang="en-US" sz="1300" dirty="0"/>
          </a:p>
        </p:txBody>
      </p:sp>
      <p:sp>
        <p:nvSpPr>
          <p:cNvPr id="29" name="Bar 3 · Store fixes + GA4/Pixel"/>
          <p:cNvSpPr/>
          <p:nvPr/>
        </p:nvSpPr>
        <p:spPr>
          <a:xfrm>
            <a:off x="3640455" y="2779776"/>
            <a:ext cx="1240155" cy="274320"/>
          </a:xfrm>
          <a:prstGeom prst="roundRect">
            <a:avLst>
              <a:gd name="adj" fmla="val 50000"/>
            </a:avLst>
          </a:prstGeom>
          <a:solidFill>
            <a:srgbClr val="1B4D2B"/>
          </a:solidFill>
          <a:ln w="12700">
            <a:solidFill>
              <a:srgbClr val="1B4D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2095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· Content production</a:t>
            </a:r>
            <a:endParaRPr lang="en-US" sz="1300" dirty="0"/>
          </a:p>
        </p:txBody>
      </p:sp>
      <p:sp>
        <p:nvSpPr>
          <p:cNvPr id="31" name="Bar 4 · Content production"/>
          <p:cNvSpPr/>
          <p:nvPr/>
        </p:nvSpPr>
        <p:spPr>
          <a:xfrm>
            <a:off x="3640455" y="3255264"/>
            <a:ext cx="4960620" cy="274320"/>
          </a:xfrm>
          <a:prstGeom prst="roundRect">
            <a:avLst>
              <a:gd name="adj" fmla="val 50000"/>
            </a:avLst>
          </a:prstGeom>
          <a:solidFill>
            <a:srgbClr val="A9CDB1"/>
          </a:solidFill>
          <a:ln w="12700">
            <a:solidFill>
              <a:srgbClr val="A9CDB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6850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· Campaign wk 1–2</a:t>
            </a:r>
            <a:endParaRPr lang="en-US" sz="1300" dirty="0"/>
          </a:p>
        </p:txBody>
      </p:sp>
      <p:sp>
        <p:nvSpPr>
          <p:cNvPr id="33" name="Bar 5 · Campaign wk 1–2"/>
          <p:cNvSpPr/>
          <p:nvPr/>
        </p:nvSpPr>
        <p:spPr>
          <a:xfrm>
            <a:off x="4880610" y="3730752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2E7D3A"/>
          </a:solidFill>
          <a:ln w="12700">
            <a:solidFill>
              <a:srgbClr val="2E7D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160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 · Campaign wk 3–4 (offer)</a:t>
            </a:r>
            <a:endParaRPr lang="en-US" sz="1300" dirty="0"/>
          </a:p>
        </p:txBody>
      </p:sp>
      <p:sp>
        <p:nvSpPr>
          <p:cNvPr id="35" name="Bar 6 · Campaign wk 3–4 (offer)"/>
          <p:cNvSpPr/>
          <p:nvPr/>
        </p:nvSpPr>
        <p:spPr>
          <a:xfrm>
            <a:off x="7360920" y="420624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D63A14"/>
          </a:solidFill>
          <a:ln w="12700">
            <a:solidFill>
              <a:srgbClr val="D63A1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6360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7 · Paid test $200</a:t>
            </a:r>
            <a:endParaRPr lang="en-US" sz="1300" dirty="0"/>
          </a:p>
        </p:txBody>
      </p:sp>
      <p:sp>
        <p:nvSpPr>
          <p:cNvPr id="37" name="Bar 7 · Paid test $200"/>
          <p:cNvSpPr/>
          <p:nvPr/>
        </p:nvSpPr>
        <p:spPr>
          <a:xfrm>
            <a:off x="4880610" y="4681728"/>
            <a:ext cx="4960620" cy="274320"/>
          </a:xfrm>
          <a:prstGeom prst="roundRect">
            <a:avLst>
              <a:gd name="adj" fmla="val 50000"/>
            </a:avLst>
          </a:prstGeom>
          <a:solidFill>
            <a:srgbClr val="2E7D3A"/>
          </a:solidFill>
          <a:ln w="12700">
            <a:solidFill>
              <a:srgbClr val="2E7D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51114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 · Analysis &amp; final deck</a:t>
            </a:r>
            <a:endParaRPr lang="en-US" sz="1300" dirty="0"/>
          </a:p>
        </p:txBody>
      </p:sp>
      <p:sp>
        <p:nvSpPr>
          <p:cNvPr id="39" name="Bar 8 · Analysis &amp; final deck"/>
          <p:cNvSpPr/>
          <p:nvPr/>
        </p:nvSpPr>
        <p:spPr>
          <a:xfrm>
            <a:off x="9486900" y="5157216"/>
            <a:ext cx="1594485" cy="274320"/>
          </a:xfrm>
          <a:prstGeom prst="roundRect">
            <a:avLst>
              <a:gd name="adj" fmla="val 50000"/>
            </a:avLst>
          </a:prstGeom>
          <a:solidFill>
            <a:srgbClr val="1B4D2B"/>
          </a:solidFill>
          <a:ln w="12700">
            <a:solidFill>
              <a:srgbClr val="1B4D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5869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9 · Weekly reviews (Wed)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24728" y="5650992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64883" y="5650992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05038" y="5650992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45193" y="5650992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40455" y="1600200"/>
            <a:ext cx="0" cy="4526280"/>
          </a:xfrm>
          <a:prstGeom prst="line">
            <a:avLst/>
          </a:prstGeom>
          <a:noFill/>
          <a:ln w="19050">
            <a:solidFill>
              <a:srgbClr val="D63A1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54655" y="6144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Brief due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80610" y="1600200"/>
            <a:ext cx="0" cy="4526280"/>
          </a:xfrm>
          <a:prstGeom prst="line">
            <a:avLst/>
          </a:prstGeom>
          <a:noFill/>
          <a:ln w="19050">
            <a:solidFill>
              <a:srgbClr val="D63A1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194810" y="6144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Launch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841230" y="1600200"/>
            <a:ext cx="0" cy="4526280"/>
          </a:xfrm>
          <a:prstGeom prst="line">
            <a:avLst/>
          </a:prstGeom>
          <a:noFill/>
          <a:ln w="19050">
            <a:solidFill>
              <a:srgbClr val="D63A1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55430" y="6144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Presentation 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1081385" y="1600200"/>
            <a:ext cx="0" cy="4526280"/>
          </a:xfrm>
          <a:prstGeom prst="line">
            <a:avLst/>
          </a:prstGeom>
          <a:noFill/>
          <a:ln w="19050">
            <a:solidFill>
              <a:srgbClr val="D63A1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395585" y="6144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Presentation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Roadmap phases and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0876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673352"/>
            <a:ext cx="2057400" cy="0"/>
          </a:xfrm>
          <a:prstGeom prst="line">
            <a:avLst/>
          </a:prstGeom>
          <a:noFill/>
          <a:ln w="25400">
            <a:solidFill>
              <a:srgbClr val="A9CDB1"/>
            </a:solidFill>
            <a:prstDash val="solid"/>
            <a:tailEnd type="triangle"/>
          </a:ln>
        </p:spPr>
      </p:sp>
      <p:sp>
        <p:nvSpPr>
          <p:cNvPr id="6" name="Phase 0 card"/>
          <p:cNvSpPr/>
          <p:nvPr/>
        </p:nvSpPr>
        <p:spPr>
          <a:xfrm>
            <a:off x="548640" y="224028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Phase 0 · Oct 22 – 28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Brief + owner consent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Competitor audit · 10–12 interviews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Mobile checkout test order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photos, delivery bar, WhatsApp link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GA4, Pixel, UTMs live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349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Deliverable: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Validated personas + a store ready to sell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20640" y="1673352"/>
            <a:ext cx="2057400" cy="0"/>
          </a:xfrm>
          <a:prstGeom prst="line">
            <a:avLst/>
          </a:prstGeom>
          <a:noFill/>
          <a:ln w="25400">
            <a:solidFill>
              <a:srgbClr val="A9CDB1"/>
            </a:solidFill>
            <a:prstDash val="solid"/>
            <a:tailEnd type="triangle"/>
          </a:ln>
        </p:spPr>
      </p:sp>
      <p:sp>
        <p:nvSpPr>
          <p:cNvPr id="14" name="Phase 1 card"/>
          <p:cNvSpPr/>
          <p:nvPr/>
        </p:nvSpPr>
        <p:spPr>
          <a:xfrm>
            <a:off x="3383280" y="224028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Phase 1 · Oct 29 – Nov 11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Trust &amp; choice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Reel 1 + Reel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Guides and FAQ carousels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Google profile launch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A/B ad test ($100)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349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Deliverable: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Engaged audience + winning ad creative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955280" y="1673352"/>
            <a:ext cx="2057400" cy="0"/>
          </a:xfrm>
          <a:prstGeom prst="line">
            <a:avLst/>
          </a:prstGeom>
          <a:noFill/>
          <a:ln w="25400">
            <a:solidFill>
              <a:srgbClr val="A9CDB1"/>
            </a:solidFill>
            <a:prstDash val="solid"/>
            <a:tailEnd type="triangle"/>
          </a:ln>
        </p:spPr>
      </p:sp>
      <p:sp>
        <p:nvSpPr>
          <p:cNvPr id="22" name="Phase 2 card"/>
          <p:cNvSpPr/>
          <p:nvPr/>
        </p:nvSpPr>
        <p:spPr>
          <a:xfrm>
            <a:off x="6217920" y="224028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Phase 2 · Nov 12 – 25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Convert &amp; prove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Offer post + Reel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Scale the winner + retarget ($100)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Customer story, Q&amp;A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 requests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349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Deliverable: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First orders, reviews, measured CAC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12680" y="13258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1268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9" name="Phase 3 card"/>
          <p:cNvSpPr/>
          <p:nvPr/>
        </p:nvSpPr>
        <p:spPr>
          <a:xfrm>
            <a:off x="9052560" y="224028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Phase 3 · Nov 25 – Dec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Measure &amp; present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200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Compare against the baseline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ROI, CAC, ROAS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Recommendations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Executive pitch + Q&amp;A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5349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Deliverable: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Final deck + recommendations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Next 7 days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Start from evidence, then spend</a:t>
            </a:r>
            <a:endParaRPr lang="en-US" sz="2000" dirty="0"/>
          </a:p>
        </p:txBody>
      </p:sp>
      <p:sp>
        <p:nvSpPr>
          <p:cNvPr id="4" name="Next 0"/>
          <p:cNvSpPr/>
          <p:nvPr/>
        </p:nvSpPr>
        <p:spPr>
          <a:xfrm>
            <a:off x="7315200" y="914400"/>
            <a:ext cx="42976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 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41080" y="914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Submit the brief and the signed owner consent</a:t>
            </a:r>
            <a:endParaRPr lang="en-US" sz="1300" dirty="0"/>
          </a:p>
        </p:txBody>
      </p:sp>
      <p:sp>
        <p:nvSpPr>
          <p:cNvPr id="7" name="Next 1"/>
          <p:cNvSpPr/>
          <p:nvPr/>
        </p:nvSpPr>
        <p:spPr>
          <a:xfrm>
            <a:off x="7315200" y="1938528"/>
            <a:ext cx="42976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93852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 22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93852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Screenshot and save the Shopify launch baseline</a:t>
            </a:r>
            <a:endParaRPr lang="en-US" sz="1300" dirty="0"/>
          </a:p>
        </p:txBody>
      </p:sp>
      <p:sp>
        <p:nvSpPr>
          <p:cNvPr id="10" name="Next 2"/>
          <p:cNvSpPr/>
          <p:nvPr/>
        </p:nvSpPr>
        <p:spPr>
          <a:xfrm>
            <a:off x="7315200" y="2962656"/>
            <a:ext cx="42976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96265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 23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9626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Run one real mobile test order (then refund it)</a:t>
            </a:r>
            <a:endParaRPr lang="en-US" sz="1300" dirty="0"/>
          </a:p>
        </p:txBody>
      </p:sp>
      <p:sp>
        <p:nvSpPr>
          <p:cNvPr id="13" name="Next 3"/>
          <p:cNvSpPr/>
          <p:nvPr/>
        </p:nvSpPr>
        <p:spPr>
          <a:xfrm>
            <a:off x="7315200" y="3986784"/>
            <a:ext cx="42976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398678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 22–24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98678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Audit the 3 competitors; book the interviews</a:t>
            </a:r>
            <a:endParaRPr lang="en-US" sz="1300" dirty="0"/>
          </a:p>
        </p:txBody>
      </p:sp>
      <p:sp>
        <p:nvSpPr>
          <p:cNvPr id="16" name="Next 4"/>
          <p:cNvSpPr/>
          <p:nvPr/>
        </p:nvSpPr>
        <p:spPr>
          <a:xfrm>
            <a:off x="7315200" y="5010912"/>
            <a:ext cx="42976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5010912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 25–28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50109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Real photos, delivery bar, GA4 and Pixel, then shoot Reel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 · شكراً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wainy Plast">
  <a:themeElements>
    <a:clrScheme name="Twainy Plast">
      <a:dk1>
        <a:srgbClr val="1A1F1C"/>
      </a:dk1>
      <a:lt1>
        <a:srgbClr val="FFFFFF"/>
      </a:lt1>
      <a:dk2>
        <a:srgbClr val="1B4D2B"/>
      </a:dk2>
      <a:lt2>
        <a:srgbClr val="EEF5F0"/>
      </a:lt2>
      <a:accent1>
        <a:srgbClr val="2E7D3A"/>
      </a:accent1>
      <a:accent2>
        <a:srgbClr val="D63A14"/>
      </a:accent2>
      <a:accent3>
        <a:srgbClr val="8D99AE"/>
      </a:accent3>
      <a:accent4>
        <a:srgbClr val="A9CDB1"/>
      </a:accent4>
      <a:accent5>
        <a:srgbClr val="5B6770"/>
      </a:accent5>
      <a:accent6>
        <a:srgbClr val="C9A227"/>
      </a:accent6>
      <a:hlink>
        <a:srgbClr val="2E7D3A"/>
      </a:hlink>
      <a:folHlink>
        <a:srgbClr val="1B4D2B"/>
      </a:folHlink>
    </a:clrScheme>
    <a:fontScheme name="Twainy Pla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LAU AKSOB 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Twainy Plast: From Visitors to Customers</dc:title>
  <dc:subject>PptxGenJS Presentation</dc:subject>
  <dc:creator>MKT 843 Consulting Team</dc:creator>
  <cp:lastModifiedBy>MKT 843 Consulting Team</cp:lastModifiedBy>
  <cp:revision>1</cp:revision>
  <dcterms:created xsi:type="dcterms:W3CDTF">2026-10-21T10:31:48Z</dcterms:created>
  <dcterms:modified xsi:type="dcterms:W3CDTF">2026-10-21T10:31:48Z</dcterms:modified>
</cp:coreProperties>
</file>